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"/>
            <a:ext cx="12192000" cy="2286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800" y="167640"/>
            <a:ext cx="68580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36" b="1">
                <a:solidFill>
                  <a:srgbClr val="FFFFFF"/>
                </a:solidFill>
                <a:latin typeface="Segoe UI"/>
              </a:rPr>
              <a:t>Microsoft Teams AI 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457200"/>
            <a:ext cx="7620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8" b="0">
                <a:solidFill>
                  <a:srgbClr val="AEB4D6"/>
                </a:solidFill>
                <a:latin typeface="Segoe UI"/>
              </a:rPr>
              <a:t>System workflow — how a message travels from a Teams user to the AI model and 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22280" y="213360"/>
            <a:ext cx="1264920" cy="274320"/>
          </a:xfrm>
          <a:prstGeom prst="roundRect">
            <a:avLst>
              <a:gd name="adj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22280" y="297180"/>
            <a:ext cx="126492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6" b="1">
                <a:solidFill>
                  <a:srgbClr val="FFFFFF"/>
                </a:solidFill>
                <a:latin typeface="Segoe UI"/>
              </a:rPr>
              <a:t>AI API  · 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90678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1" spc="200">
                <a:solidFill>
                  <a:srgbClr val="5B5FC7"/>
                </a:solidFill>
                <a:latin typeface="Segoe UI"/>
              </a:rPr>
              <a:t>MESSAGE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24000" y="937259"/>
            <a:ext cx="10363200" cy="15240"/>
          </a:xfrm>
          <a:prstGeom prst="rect">
            <a:avLst/>
          </a:prstGeom>
          <a:solidFill>
            <a:srgbClr val="DD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4800" y="1104900"/>
            <a:ext cx="2621280" cy="899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4800" y="1104900"/>
            <a:ext cx="2621280" cy="3048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4340" y="1295400"/>
            <a:ext cx="228600" cy="228600"/>
          </a:xfrm>
          <a:prstGeom prst="ellipse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" y="1363980"/>
            <a:ext cx="228600" cy="12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6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760" y="1356360"/>
            <a:ext cx="201168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2" b="1">
                <a:solidFill>
                  <a:srgbClr val="1B1F3B"/>
                </a:solidFill>
                <a:latin typeface="Segoe UI"/>
              </a:rPr>
              <a:t>Teams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584960"/>
            <a:ext cx="22860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5" b="0">
                <a:solidFill>
                  <a:srgbClr val="5A6079"/>
                </a:solidFill>
                <a:latin typeface="Segoe UI"/>
              </a:rPr>
              <a:t>Types a message inside</a:t>
            </a:r>
          </a:p>
          <a:p>
            <a:pPr algn="l"/>
            <a:r>
              <a:rPr sz="775" b="0">
                <a:solidFill>
                  <a:srgbClr val="5A6079"/>
                </a:solidFill>
                <a:latin typeface="Segoe UI"/>
              </a:rPr>
              <a:t>Microsoft Teams.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87040" y="1485900"/>
            <a:ext cx="243840" cy="13716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91840" y="1104900"/>
            <a:ext cx="2621280" cy="899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104900"/>
            <a:ext cx="2621280" cy="3048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21380" y="1295400"/>
            <a:ext cx="228600" cy="228600"/>
          </a:xfrm>
          <a:prstGeom prst="ellipse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1380" y="1363980"/>
            <a:ext cx="228600" cy="12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6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3799" y="1356360"/>
            <a:ext cx="201168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2" b="1">
                <a:solidFill>
                  <a:srgbClr val="1B1F3B"/>
                </a:solidFill>
                <a:latin typeface="Segoe UI"/>
              </a:rPr>
              <a:t>Microsoft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9960" y="1584960"/>
            <a:ext cx="22860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5" b="0">
                <a:solidFill>
                  <a:srgbClr val="5A6079"/>
                </a:solidFill>
                <a:latin typeface="Segoe UI"/>
              </a:rPr>
              <a:t>Delivers the message to</a:t>
            </a:r>
          </a:p>
          <a:p>
            <a:pPr algn="l"/>
            <a:r>
              <a:rPr sz="775" b="0">
                <a:solidFill>
                  <a:srgbClr val="5A6079"/>
                </a:solidFill>
                <a:latin typeface="Segoe UI"/>
              </a:rPr>
              <a:t>the registered bot.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74080" y="1485900"/>
            <a:ext cx="243840" cy="13716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78880" y="1104900"/>
            <a:ext cx="2621280" cy="899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78880" y="1104900"/>
            <a:ext cx="2621280" cy="3048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8420" y="1295400"/>
            <a:ext cx="228600" cy="228600"/>
          </a:xfrm>
          <a:prstGeom prst="ellipse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8420" y="1363980"/>
            <a:ext cx="228600" cy="12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6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1356360"/>
            <a:ext cx="201168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2" b="1">
                <a:solidFill>
                  <a:srgbClr val="1B1F3B"/>
                </a:solidFill>
                <a:latin typeface="Segoe UI"/>
              </a:rPr>
              <a:t>Azure Bot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0" y="1584960"/>
            <a:ext cx="22860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5" b="0">
                <a:solidFill>
                  <a:srgbClr val="5A6079"/>
                </a:solidFill>
                <a:latin typeface="Segoe UI"/>
              </a:rPr>
              <a:t>Authenticates the bot and</a:t>
            </a:r>
          </a:p>
          <a:p>
            <a:pPr algn="l"/>
            <a:r>
              <a:rPr sz="775" b="0">
                <a:solidFill>
                  <a:srgbClr val="5A6079"/>
                </a:solidFill>
                <a:latin typeface="Segoe UI"/>
              </a:rPr>
              <a:t>routes the message on.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961120" y="1485900"/>
            <a:ext cx="243840" cy="13716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65920" y="1104900"/>
            <a:ext cx="2621280" cy="899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65920" y="1104900"/>
            <a:ext cx="2621280" cy="3048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95460" y="1295400"/>
            <a:ext cx="228600" cy="228600"/>
          </a:xfrm>
          <a:prstGeom prst="ellipse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95460" y="1363980"/>
            <a:ext cx="228600" cy="12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6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07880" y="1356360"/>
            <a:ext cx="201168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2" b="1">
                <a:solidFill>
                  <a:srgbClr val="1B1F3B"/>
                </a:solidFill>
                <a:latin typeface="Segoe UI"/>
              </a:rPr>
              <a:t>Dev Tunnel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1584960"/>
            <a:ext cx="22860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5" b="0">
                <a:solidFill>
                  <a:srgbClr val="5A6079"/>
                </a:solidFill>
                <a:latin typeface="Segoe UI"/>
              </a:rPr>
              <a:t>Public HTTPS bridge into</a:t>
            </a:r>
          </a:p>
          <a:p>
            <a:pPr algn="l"/>
            <a:r>
              <a:rPr sz="775" b="0">
                <a:solidFill>
                  <a:srgbClr val="5A6079"/>
                </a:solidFill>
                <a:latin typeface="Segoe UI"/>
              </a:rPr>
              <a:t>the local machine.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4800" y="2407920"/>
            <a:ext cx="2621280" cy="899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4800" y="2407920"/>
            <a:ext cx="2621280" cy="3048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4340" y="2598420"/>
            <a:ext cx="228600" cy="228600"/>
          </a:xfrm>
          <a:prstGeom prst="ellipse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" y="2667000"/>
            <a:ext cx="228600" cy="12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6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6760" y="2659380"/>
            <a:ext cx="201168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2" b="1">
                <a:solidFill>
                  <a:srgbClr val="1B1F3B"/>
                </a:solidFill>
                <a:latin typeface="Segoe UI"/>
              </a:rPr>
              <a:t>app.py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2887980"/>
            <a:ext cx="22860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5" b="0">
                <a:solidFill>
                  <a:srgbClr val="5A6079"/>
                </a:solidFill>
                <a:latin typeface="Segoe UI"/>
              </a:rPr>
              <a:t>Web server. Receives the</a:t>
            </a:r>
          </a:p>
          <a:p>
            <a:pPr algn="l"/>
            <a:r>
              <a:rPr sz="775" b="0">
                <a:solidFill>
                  <a:srgbClr val="5A6079"/>
                </a:solidFill>
                <a:latin typeface="Segoe UI"/>
              </a:rPr>
              <a:t>POST on /api/messages.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987040" y="2788920"/>
            <a:ext cx="243840" cy="13716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291840" y="2407920"/>
            <a:ext cx="2621280" cy="899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91840" y="2407920"/>
            <a:ext cx="2621280" cy="3048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21380" y="2598420"/>
            <a:ext cx="228600" cy="228600"/>
          </a:xfrm>
          <a:prstGeom prst="ellipse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21380" y="2667000"/>
            <a:ext cx="228600" cy="12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6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33799" y="2659380"/>
            <a:ext cx="201168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2" b="1">
                <a:solidFill>
                  <a:srgbClr val="1B1F3B"/>
                </a:solidFill>
                <a:latin typeface="Segoe UI"/>
              </a:rPr>
              <a:t>bot.py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89960" y="2887980"/>
            <a:ext cx="22860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5" b="0">
                <a:solidFill>
                  <a:srgbClr val="5A6079"/>
                </a:solidFill>
                <a:latin typeface="Segoe UI"/>
              </a:rPr>
              <a:t>Teams layer. Strips the</a:t>
            </a:r>
          </a:p>
          <a:p>
            <a:pPr algn="l"/>
            <a:r>
              <a:rPr sz="775" b="0">
                <a:solidFill>
                  <a:srgbClr val="5A6079"/>
                </a:solidFill>
                <a:latin typeface="Segoe UI"/>
              </a:rPr>
              <a:t>mention, blocks repeats.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5974080" y="2788920"/>
            <a:ext cx="243840" cy="13716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278880" y="2407920"/>
            <a:ext cx="2621280" cy="899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78880" y="2407920"/>
            <a:ext cx="2621280" cy="30480"/>
          </a:xfrm>
          <a:prstGeom prst="rect">
            <a:avLst/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08420" y="2598420"/>
            <a:ext cx="228600" cy="228600"/>
          </a:xfrm>
          <a:prstGeom prst="ellipse">
            <a:avLst/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8420" y="2667000"/>
            <a:ext cx="228600" cy="12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6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2659380"/>
            <a:ext cx="201168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2" b="1">
                <a:solidFill>
                  <a:srgbClr val="1B1F3B"/>
                </a:solidFill>
                <a:latin typeface="Segoe UI"/>
              </a:rPr>
              <a:t>agent.py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0" y="2887980"/>
            <a:ext cx="22860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5" b="0">
                <a:solidFill>
                  <a:srgbClr val="5A6079"/>
                </a:solidFill>
                <a:latin typeface="Segoe UI"/>
              </a:rPr>
              <a:t>Agent layer. Adds memory</a:t>
            </a:r>
          </a:p>
          <a:p>
            <a:pPr algn="l"/>
            <a:r>
              <a:rPr sz="775" b="0">
                <a:solidFill>
                  <a:srgbClr val="5A6079"/>
                </a:solidFill>
                <a:latin typeface="Segoe UI"/>
              </a:rPr>
              <a:t>and builds the prompt.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8961120" y="2788920"/>
            <a:ext cx="243840" cy="13716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265920" y="2407920"/>
            <a:ext cx="2621280" cy="899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65920" y="2407920"/>
            <a:ext cx="2621280" cy="30480"/>
          </a:xfrm>
          <a:prstGeom prst="rect">
            <a:avLst/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395460" y="2598420"/>
            <a:ext cx="228600" cy="228600"/>
          </a:xfrm>
          <a:prstGeom prst="ellipse">
            <a:avLst/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95460" y="2667000"/>
            <a:ext cx="228600" cy="12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6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07880" y="2659380"/>
            <a:ext cx="201168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92" b="1">
                <a:solidFill>
                  <a:srgbClr val="1B1F3B"/>
                </a:solidFill>
                <a:latin typeface="Segoe UI"/>
              </a:rPr>
              <a:t>AI API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64040" y="2887980"/>
            <a:ext cx="22860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5" b="0">
                <a:solidFill>
                  <a:srgbClr val="5A6079"/>
                </a:solidFill>
                <a:latin typeface="Segoe UI"/>
              </a:rPr>
              <a:t>Generates the reply and</a:t>
            </a:r>
          </a:p>
          <a:p>
            <a:pPr algn="l"/>
            <a:r>
              <a:rPr sz="775" b="0">
                <a:solidFill>
                  <a:srgbClr val="5A6079"/>
                </a:solidFill>
                <a:latin typeface="Segoe UI"/>
              </a:rPr>
              <a:t>returns it.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561320" y="2004060"/>
            <a:ext cx="22860" cy="16764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15440" y="2156460"/>
            <a:ext cx="8968740" cy="2286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615440" y="2156460"/>
            <a:ext cx="22860" cy="10668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own Arrow 67"/>
          <p:cNvSpPr/>
          <p:nvPr/>
        </p:nvSpPr>
        <p:spPr>
          <a:xfrm>
            <a:off x="1539240" y="2225040"/>
            <a:ext cx="167640" cy="1676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561320" y="3307080"/>
            <a:ext cx="22860" cy="182880"/>
          </a:xfrm>
          <a:prstGeom prst="rect">
            <a:avLst/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15440" y="3474720"/>
            <a:ext cx="8968740" cy="22860"/>
          </a:xfrm>
          <a:prstGeom prst="rect">
            <a:avLst/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615440" y="3368040"/>
            <a:ext cx="22860" cy="121920"/>
          </a:xfrm>
          <a:prstGeom prst="rect">
            <a:avLst/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Up Arrow 71"/>
          <p:cNvSpPr/>
          <p:nvPr/>
        </p:nvSpPr>
        <p:spPr>
          <a:xfrm>
            <a:off x="1539240" y="3230880"/>
            <a:ext cx="167640" cy="16764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876800" y="3360420"/>
            <a:ext cx="2438400" cy="259080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76800" y="3429000"/>
            <a:ext cx="2438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6" b="1">
                <a:solidFill>
                  <a:srgbClr val="10893E"/>
                </a:solidFill>
                <a:latin typeface="Segoe UI"/>
              </a:rPr>
              <a:t>Reply returns along the same path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4800" y="3909060"/>
            <a:ext cx="3048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1" spc="200">
                <a:solidFill>
                  <a:srgbClr val="5B5FC7"/>
                </a:solidFill>
                <a:latin typeface="Segoe UI"/>
              </a:rPr>
              <a:t>BUILT-IN SAFEGUARDS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57400" y="3939540"/>
            <a:ext cx="9829800" cy="15240"/>
          </a:xfrm>
          <a:prstGeom prst="rect">
            <a:avLst/>
          </a:prstGeom>
          <a:solidFill>
            <a:srgbClr val="DD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04800" y="4114800"/>
            <a:ext cx="26212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04800" y="4114800"/>
            <a:ext cx="38100" cy="77724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18160" y="4282440"/>
            <a:ext cx="224028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9" b="1">
                <a:solidFill>
                  <a:srgbClr val="1B1F3B"/>
                </a:solidFill>
                <a:latin typeface="Segoe UI"/>
              </a:rPr>
              <a:t>Typing Indicator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8160" y="4511040"/>
            <a:ext cx="22402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0">
                <a:solidFill>
                  <a:srgbClr val="5A6079"/>
                </a:solidFill>
                <a:latin typeface="Segoe UI"/>
              </a:rPr>
              <a:t>Refreshes every 4 seconds so</a:t>
            </a:r>
          </a:p>
          <a:p>
            <a:pPr algn="l"/>
            <a:r>
              <a:rPr sz="744" b="0">
                <a:solidFill>
                  <a:srgbClr val="5A6079"/>
                </a:solidFill>
                <a:latin typeface="Segoe UI"/>
              </a:rPr>
              <a:t>the chat never looks frozen.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91840" y="4114800"/>
            <a:ext cx="26212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291840" y="4114800"/>
            <a:ext cx="38100" cy="77724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505200" y="4282440"/>
            <a:ext cx="224028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9" b="1">
                <a:solidFill>
                  <a:srgbClr val="1B1F3B"/>
                </a:solidFill>
                <a:latin typeface="Segoe UI"/>
              </a:rPr>
              <a:t>Duplicate Guard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05200" y="4511040"/>
            <a:ext cx="22402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0">
                <a:solidFill>
                  <a:srgbClr val="5A6079"/>
                </a:solidFill>
                <a:latin typeface="Segoe UI"/>
              </a:rPr>
              <a:t>Teams retries are ignored, so</a:t>
            </a:r>
          </a:p>
          <a:p>
            <a:pPr algn="l"/>
            <a:r>
              <a:rPr sz="744" b="0">
                <a:solidFill>
                  <a:srgbClr val="5A6079"/>
                </a:solidFill>
                <a:latin typeface="Segoe UI"/>
              </a:rPr>
              <a:t>nobody is answered twice.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278880" y="4114800"/>
            <a:ext cx="26212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278880" y="4114800"/>
            <a:ext cx="38100" cy="77724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92240" y="4282440"/>
            <a:ext cx="224028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9" b="1">
                <a:solidFill>
                  <a:srgbClr val="1B1F3B"/>
                </a:solidFill>
                <a:latin typeface="Segoe UI"/>
              </a:rPr>
              <a:t>60 Second Timeout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92240" y="4511040"/>
            <a:ext cx="22402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0">
                <a:solidFill>
                  <a:srgbClr val="5A6079"/>
                </a:solidFill>
                <a:latin typeface="Segoe UI"/>
              </a:rPr>
              <a:t>A stalled request fails politely</a:t>
            </a:r>
          </a:p>
          <a:p>
            <a:pPr algn="l"/>
            <a:r>
              <a:rPr sz="744" b="0">
                <a:solidFill>
                  <a:srgbClr val="5A6079"/>
                </a:solidFill>
                <a:latin typeface="Segoe UI"/>
              </a:rPr>
              <a:t>instead of hanging forever.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265920" y="4114800"/>
            <a:ext cx="26212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265920" y="4114800"/>
            <a:ext cx="38100" cy="77724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479280" y="4282440"/>
            <a:ext cx="224028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9" b="1">
                <a:solidFill>
                  <a:srgbClr val="1B1F3B"/>
                </a:solidFill>
                <a:latin typeface="Segoe UI"/>
              </a:rPr>
              <a:t>Echo Fallback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79280" y="4511040"/>
            <a:ext cx="224028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0">
                <a:solidFill>
                  <a:srgbClr val="5A6079"/>
                </a:solidFill>
                <a:latin typeface="Segoe UI"/>
              </a:rPr>
              <a:t>Runs without an API key, so</a:t>
            </a:r>
          </a:p>
          <a:p>
            <a:pPr algn="l"/>
            <a:r>
              <a:rPr sz="744" b="0">
                <a:solidFill>
                  <a:srgbClr val="5A6079"/>
                </a:solidFill>
                <a:latin typeface="Segoe UI"/>
              </a:rPr>
              <a:t>the bot always starts.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4800" y="52197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1" spc="200">
                <a:solidFill>
                  <a:srgbClr val="5B5FC7"/>
                </a:solidFill>
                <a:latin typeface="Segoe UI"/>
              </a:rPr>
              <a:t>LAYERED DESIGN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76400" y="5250180"/>
            <a:ext cx="10210800" cy="15240"/>
          </a:xfrm>
          <a:prstGeom prst="rect">
            <a:avLst/>
          </a:prstGeom>
          <a:solidFill>
            <a:srgbClr val="DD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304800" y="5425440"/>
            <a:ext cx="6705600" cy="426720"/>
          </a:xfrm>
          <a:prstGeom prst="roundRect">
            <a:avLst>
              <a:gd name="adj" fmla="val 14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2920" y="5509260"/>
            <a:ext cx="6324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9" b="1">
                <a:solidFill>
                  <a:srgbClr val="FFFFFF"/>
                </a:solidFill>
                <a:latin typeface="Segoe UI"/>
              </a:rPr>
              <a:t>Teams Layer — app.py and bot.py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2920" y="5676900"/>
            <a:ext cx="6324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0">
                <a:solidFill>
                  <a:srgbClr val="D6D8F2"/>
                </a:solidFill>
                <a:latin typeface="Segoe UI"/>
              </a:rPr>
              <a:t>Speaks Teams. Holds no intelligence. Never changes.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04800" y="5943600"/>
            <a:ext cx="6705600" cy="426720"/>
          </a:xfrm>
          <a:prstGeom prst="roundRect">
            <a:avLst>
              <a:gd name="adj" fmla="val 14000"/>
            </a:avLst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2920" y="6027420"/>
            <a:ext cx="6324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9" b="1">
                <a:solidFill>
                  <a:srgbClr val="FFFFFF"/>
                </a:solidFill>
                <a:latin typeface="Segoe UI"/>
              </a:rPr>
              <a:t>Agent Layer — agent.py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2920" y="6195060"/>
            <a:ext cx="6324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0">
                <a:solidFill>
                  <a:srgbClr val="CFE8D8"/>
                </a:solidFill>
                <a:latin typeface="Segoe UI"/>
              </a:rPr>
              <a:t>Holds the intelligence. Knows nothing about Teams. Fully swappable.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45680" y="5509260"/>
            <a:ext cx="2286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1" spc="100">
                <a:solidFill>
                  <a:srgbClr val="5A6079"/>
                </a:solidFill>
                <a:latin typeface="Segoe UI"/>
              </a:rPr>
              <a:t>SWAPPABLE BRAIN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345680" y="5730240"/>
            <a:ext cx="111252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D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345680" y="5806440"/>
            <a:ext cx="1112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6" b="1">
                <a:solidFill>
                  <a:srgbClr val="9096AE"/>
                </a:solidFill>
                <a:latin typeface="Segoe UI"/>
              </a:rPr>
              <a:t>Echo Bot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45680" y="5951220"/>
            <a:ext cx="1112520" cy="10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1" b="0">
                <a:solidFill>
                  <a:srgbClr val="B4B9CC"/>
                </a:solidFill>
                <a:latin typeface="Segoe UI"/>
              </a:rPr>
              <a:t>done</a:t>
            </a:r>
          </a:p>
        </p:txBody>
      </p:sp>
      <p:sp>
        <p:nvSpPr>
          <p:cNvPr id="105" name="Right Arrow 104"/>
          <p:cNvSpPr/>
          <p:nvPr/>
        </p:nvSpPr>
        <p:spPr>
          <a:xfrm>
            <a:off x="8519160" y="5844540"/>
            <a:ext cx="213360" cy="13716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8778240" y="5684520"/>
            <a:ext cx="1203960" cy="457200"/>
          </a:xfrm>
          <a:prstGeom prst="roundRect">
            <a:avLst>
              <a:gd name="adj" fmla="val 13000"/>
            </a:avLst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778240" y="5791200"/>
            <a:ext cx="1203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6" b="1">
                <a:solidFill>
                  <a:srgbClr val="FFFFFF"/>
                </a:solidFill>
                <a:latin typeface="Segoe UI"/>
              </a:rPr>
              <a:t>AI API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778240" y="5943600"/>
            <a:ext cx="1203960" cy="10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1" b="0">
                <a:solidFill>
                  <a:srgbClr val="CFE8D8"/>
                </a:solidFill>
                <a:latin typeface="Segoe UI"/>
              </a:rPr>
              <a:t>live now</a:t>
            </a:r>
          </a:p>
        </p:txBody>
      </p:sp>
      <p:sp>
        <p:nvSpPr>
          <p:cNvPr id="109" name="Right Arrow 108"/>
          <p:cNvSpPr/>
          <p:nvPr/>
        </p:nvSpPr>
        <p:spPr>
          <a:xfrm>
            <a:off x="10043160" y="5844540"/>
            <a:ext cx="213360" cy="13716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10302240" y="5730240"/>
            <a:ext cx="1127760" cy="365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D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302240" y="5806440"/>
            <a:ext cx="1127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36" b="1">
                <a:solidFill>
                  <a:srgbClr val="9096AE"/>
                </a:solidFill>
                <a:latin typeface="Segoe UI"/>
              </a:rPr>
              <a:t>NemoClaw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02240" y="5951220"/>
            <a:ext cx="1127760" cy="10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1" b="0">
                <a:solidFill>
                  <a:srgbClr val="B4B9CC"/>
                </a:solidFill>
                <a:latin typeface="Segoe UI"/>
              </a:rPr>
              <a:t>planned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