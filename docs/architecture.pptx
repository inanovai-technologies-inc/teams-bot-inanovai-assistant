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6740"/>
            <a:ext cx="12192000" cy="2286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800" y="137160"/>
            <a:ext cx="68580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12" b="1">
                <a:solidFill>
                  <a:srgbClr val="FFFFFF"/>
                </a:solidFill>
                <a:latin typeface="Segoe UI"/>
              </a:rPr>
              <a:t>Inanovai Assistant —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396240"/>
            <a:ext cx="6858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8" b="0">
                <a:solidFill>
                  <a:srgbClr val="AEB4D6"/>
                </a:solidFill>
                <a:latin typeface="Segoe UI"/>
              </a:rPr>
              <a:t>Three chat apps, one bot, one 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10800" y="167640"/>
            <a:ext cx="1676400" cy="259080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10800" y="243840"/>
            <a:ext cx="1676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FFFFFF"/>
                </a:solidFill>
                <a:latin typeface="Segoe UI"/>
              </a:rPr>
              <a:t>Python  ·  Azure  ·  AI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762000"/>
            <a:ext cx="2286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1" spc="200">
                <a:solidFill>
                  <a:srgbClr val="5B5FC7"/>
                </a:solidFill>
                <a:latin typeface="Segoe UI"/>
              </a:rPr>
              <a:t>WHO IS TALKING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2600" y="807720"/>
            <a:ext cx="10134600" cy="15240"/>
          </a:xfrm>
          <a:prstGeom prst="rect">
            <a:avLst/>
          </a:prstGeom>
          <a:solidFill>
            <a:srgbClr val="DD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929640"/>
            <a:ext cx="3200400" cy="472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92964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04394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4" b="1">
                <a:solidFill>
                  <a:srgbClr val="1B1F3B"/>
                </a:solidFill>
                <a:latin typeface="Segoe UI"/>
              </a:rPr>
              <a:t>Microsoft Teams 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226820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live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74570" y="1402080"/>
            <a:ext cx="22860" cy="15240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2202180" y="1508760"/>
            <a:ext cx="16764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95800" y="929640"/>
            <a:ext cx="3200400" cy="472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95800" y="92964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5800" y="104394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4" b="1">
                <a:solidFill>
                  <a:srgbClr val="1B1F3B"/>
                </a:solidFill>
                <a:latin typeface="Segoe UI"/>
              </a:rPr>
              <a:t>Telegram 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800" y="1226820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code ready, needs a 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4570" y="1402080"/>
            <a:ext cx="22860" cy="15240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6012180" y="1508760"/>
            <a:ext cx="16764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05800" y="929640"/>
            <a:ext cx="3200400" cy="472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05800" y="92964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5800" y="104394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4" b="1">
                <a:solidFill>
                  <a:srgbClr val="1B1F3B"/>
                </a:solidFill>
                <a:latin typeface="Segoe UI"/>
              </a:rPr>
              <a:t>WhatsApp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1226820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code ready, needs Meta setup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4570" y="1402080"/>
            <a:ext cx="22860" cy="15240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9822180" y="1508760"/>
            <a:ext cx="16764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800" y="1798320"/>
            <a:ext cx="2286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1" spc="200">
                <a:solidFill>
                  <a:srgbClr val="5B5FC7"/>
                </a:solidFill>
                <a:latin typeface="Segoe UI"/>
              </a:rPr>
              <a:t>THE POSTMAN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47800" y="1844040"/>
            <a:ext cx="10439400" cy="15240"/>
          </a:xfrm>
          <a:prstGeom prst="rect">
            <a:avLst/>
          </a:prstGeom>
          <a:solidFill>
            <a:srgbClr val="DD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1965960"/>
            <a:ext cx="3200400" cy="563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196596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207264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92" b="1">
                <a:solidFill>
                  <a:srgbClr val="1B1F3B"/>
                </a:solidFill>
                <a:latin typeface="Segoe UI"/>
              </a:rPr>
              <a:t>Azure Bot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25552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checks the bot is genuine,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then forwards the message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74570" y="2529840"/>
            <a:ext cx="22860" cy="16764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2202180" y="2651760"/>
            <a:ext cx="16764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95800" y="1965960"/>
            <a:ext cx="3200400" cy="563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5800" y="196596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5800" y="207264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92" b="1">
                <a:solidFill>
                  <a:srgbClr val="1B1F3B"/>
                </a:solidFill>
                <a:latin typeface="Segoe UI"/>
              </a:rPr>
              <a:t>Telegram Bot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5800" y="225552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posts every message to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our webhook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4570" y="2529840"/>
            <a:ext cx="22860" cy="16764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6012180" y="2651760"/>
            <a:ext cx="16764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05800" y="1965960"/>
            <a:ext cx="3200400" cy="563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05800" y="196596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5800" y="207264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92" b="1">
                <a:solidFill>
                  <a:srgbClr val="1B1F3B"/>
                </a:solidFill>
                <a:latin typeface="Segoe UI"/>
              </a:rPr>
              <a:t>Meta Cloud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5800" y="225552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posts every message to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our webhook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94570" y="2529840"/>
            <a:ext cx="22860" cy="16764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own Arrow 47"/>
          <p:cNvSpPr/>
          <p:nvPr/>
        </p:nvSpPr>
        <p:spPr>
          <a:xfrm>
            <a:off x="9822180" y="2651760"/>
            <a:ext cx="16764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800" y="2926080"/>
            <a:ext cx="2590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1" spc="200">
                <a:solidFill>
                  <a:srgbClr val="5B5FC7"/>
                </a:solidFill>
                <a:latin typeface="Segoe UI"/>
              </a:rPr>
              <a:t>OUR CODE, ON AZURE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09800" y="2971800"/>
            <a:ext cx="9677400" cy="15240"/>
          </a:xfrm>
          <a:prstGeom prst="rect">
            <a:avLst/>
          </a:prstGeom>
          <a:solidFill>
            <a:srgbClr val="DD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3093720"/>
            <a:ext cx="11186160" cy="1524000"/>
          </a:xfrm>
          <a:prstGeom prst="roundRect">
            <a:avLst>
              <a:gd name="adj" fmla="val 8000"/>
            </a:avLst>
          </a:prstGeom>
          <a:solidFill>
            <a:srgbClr val="EDEEF8"/>
          </a:solidFill>
          <a:ln w="19050">
            <a:solidFill>
              <a:srgbClr val="C6C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3200400"/>
            <a:ext cx="762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5B5FC7"/>
                </a:solidFill>
                <a:latin typeface="Segoe UI"/>
              </a:rPr>
              <a:t>Azure App Service — inanovai-teams-bot.azurewebsites.net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3360420"/>
            <a:ext cx="9144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app.py listens on three addresses. Each one hands plain text to the same agent.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3535680"/>
            <a:ext cx="32004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" y="353568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642360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5B5FC7"/>
                </a:solidFill>
                <a:latin typeface="Segoe UI"/>
              </a:rPr>
              <a:t>POST /api/messages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381000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92" b="1">
                <a:solidFill>
                  <a:srgbClr val="1B1F3B"/>
                </a:solidFill>
                <a:latin typeface="Segoe UI"/>
              </a:rPr>
              <a:t>bot.py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4008120"/>
            <a:ext cx="32004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strips the @mention,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blocks repeat deliveries,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shows the typing bubble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95800" y="3535680"/>
            <a:ext cx="32004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95800" y="353568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95800" y="3642360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5B5FC7"/>
                </a:solidFill>
                <a:latin typeface="Segoe UI"/>
              </a:rPr>
              <a:t>POST /telegram/webhook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95800" y="381000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92" b="1">
                <a:solidFill>
                  <a:srgbClr val="1B1F3B"/>
                </a:solidFill>
                <a:latin typeface="Segoe UI"/>
              </a:rPr>
              <a:t>channels/telegram.py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5800" y="4008120"/>
            <a:ext cx="32004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checks the secret header,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answers only when mentioned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in a group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05800" y="3535680"/>
            <a:ext cx="320040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05800" y="3535680"/>
            <a:ext cx="3200400" cy="3048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05800" y="3642360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6" b="1">
                <a:solidFill>
                  <a:srgbClr val="5B5FC7"/>
                </a:solidFill>
                <a:latin typeface="Segoe UI"/>
              </a:rPr>
              <a:t>GET / POST /whatsapp/webhook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5800" y="3810000"/>
            <a:ext cx="32004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92" b="1">
                <a:solidFill>
                  <a:srgbClr val="1B1F3B"/>
                </a:solidFill>
                <a:latin typeface="Segoe UI"/>
              </a:rPr>
              <a:t>channels/whatsapp.py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05800" y="4008120"/>
            <a:ext cx="32004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answers Meta's verification,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checks the signature,</a:t>
            </a:r>
          </a:p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marks messages read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74570" y="4617720"/>
            <a:ext cx="22860" cy="16764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84570" y="4617720"/>
            <a:ext cx="22860" cy="16764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94570" y="4617720"/>
            <a:ext cx="22860" cy="16764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286000" y="4762500"/>
            <a:ext cx="7620000" cy="2286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84570" y="4762500"/>
            <a:ext cx="22860" cy="13716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own Arrow 73"/>
          <p:cNvSpPr/>
          <p:nvPr/>
        </p:nvSpPr>
        <p:spPr>
          <a:xfrm>
            <a:off x="6012180" y="4876800"/>
            <a:ext cx="16764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352800" y="5059680"/>
            <a:ext cx="5486400" cy="640080"/>
          </a:xfrm>
          <a:prstGeom prst="roundRect">
            <a:avLst>
              <a:gd name="adj" fmla="val 12000"/>
            </a:avLst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52800" y="516636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6" b="1">
                <a:solidFill>
                  <a:srgbClr val="FFFFFF"/>
                </a:solidFill>
                <a:latin typeface="Segoe UI"/>
              </a:rPr>
              <a:t>agent.py — the brain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52800" y="5364480"/>
            <a:ext cx="54864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CFE8D8"/>
                </a:solidFill>
                <a:latin typeface="Segoe UI"/>
              </a:rPr>
              <a:t>adds the recent history for this conversation, builds the prompt</a:t>
            </a:r>
          </a:p>
          <a:p>
            <a:pPr algn="ctr"/>
            <a:r>
              <a:rPr sz="775" b="0">
                <a:solidFill>
                  <a:srgbClr val="CFE8D8"/>
                </a:solidFill>
                <a:latin typeface="Segoe UI"/>
              </a:rPr>
              <a:t>knows nothing about Teams, Telegram or WhatsApp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84570" y="5699760"/>
            <a:ext cx="22860" cy="13716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own Arrow 78"/>
          <p:cNvSpPr/>
          <p:nvPr/>
        </p:nvSpPr>
        <p:spPr>
          <a:xfrm>
            <a:off x="6012180" y="5806440"/>
            <a:ext cx="16764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352800" y="5989320"/>
            <a:ext cx="5486400" cy="533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352800" y="5989320"/>
            <a:ext cx="5486400" cy="30480"/>
          </a:xfrm>
          <a:prstGeom prst="rect">
            <a:avLst/>
          </a:prstGeom>
          <a:solidFill>
            <a:srgbClr val="108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52800" y="61112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4" b="1">
                <a:solidFill>
                  <a:srgbClr val="1B1F3B"/>
                </a:solidFill>
                <a:latin typeface="Segoe UI"/>
              </a:rPr>
              <a:t>AI API — Llama 3.3 70B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52800" y="6309360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75" b="0">
                <a:solidFill>
                  <a:srgbClr val="5A6079"/>
                </a:solidFill>
                <a:latin typeface="Segoe UI"/>
              </a:rPr>
              <a:t>writes the answer, which returns the way it came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505968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02920" y="5059680"/>
            <a:ext cx="38100" cy="9144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1040" y="51816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9" b="1">
                <a:solidFill>
                  <a:srgbClr val="1B1F3B"/>
                </a:solidFill>
                <a:latin typeface="Segoe UI"/>
              </a:rPr>
              <a:t>Chats stay separate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1040" y="5379720"/>
            <a:ext cx="2209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Every conversation gets its own</a:t>
            </a:r>
          </a:p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memory, labelled by platform: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1040" y="5669280"/>
            <a:ext cx="22098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1">
                <a:solidFill>
                  <a:srgbClr val="5B5FC7"/>
                </a:solidFill>
                <a:latin typeface="Segoe UI"/>
              </a:rPr>
              <a:t>telegram:555</a:t>
            </a:r>
          </a:p>
          <a:p>
            <a:pPr algn="l"/>
            <a:r>
              <a:rPr sz="744" b="1">
                <a:solidFill>
                  <a:srgbClr val="5B5FC7"/>
                </a:solidFill>
                <a:latin typeface="Segoe UI"/>
              </a:rPr>
              <a:t>whatsapp:9199...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74480" y="5059680"/>
            <a:ext cx="2514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74480" y="5059680"/>
            <a:ext cx="38100" cy="9144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372600" y="5181600"/>
            <a:ext cx="2209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9" b="1">
                <a:solidFill>
                  <a:srgbClr val="1B1F3B"/>
                </a:solidFill>
                <a:latin typeface="Segoe UI"/>
              </a:rPr>
              <a:t>Same safeguards everywhere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72600" y="5394960"/>
            <a:ext cx="2209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No duplicate answers</a:t>
            </a:r>
          </a:p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60 second timeout</a:t>
            </a:r>
          </a:p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Long replies split automatically</a:t>
            </a:r>
          </a:p>
          <a:p>
            <a:pPr algn="l"/>
            <a:r>
              <a:rPr sz="744" b="0">
                <a:solidFill>
                  <a:srgbClr val="5A6079"/>
                </a:solidFill>
                <a:latin typeface="Segoe UI"/>
              </a:rPr>
              <a:t>Errors never crash a 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